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26283116ad420b" /><Relationship Type="http://schemas.openxmlformats.org/officeDocument/2006/relationships/extended-properties" Target="/docProps/app.xml" Id="Re96bae8d00154f06" /><Relationship Type="http://schemas.openxmlformats.org/officeDocument/2006/relationships/officeDocument" Target="/ppt/presentation.xml" Id="R572ca915f6924e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1537b7c8944c07"/>
  </p:sldMasterIdLst>
  <p:notesMasterIdLst>
    <p:notesMasterId xmlns:r="http://schemas.openxmlformats.org/officeDocument/2006/relationships" r:id="R8537c5aeae694cea"/>
  </p:notesMasterIdLst>
  <p:sldIdLst>
    <p:sldId xmlns:r="http://schemas.openxmlformats.org/officeDocument/2006/relationships" id="256" r:id="Rdf22b17d293c4d83"/>
    <p:sldId xmlns:r="http://schemas.openxmlformats.org/officeDocument/2006/relationships" id="257" r:id="Rf096e960a9df471f"/>
    <p:sldId xmlns:r="http://schemas.openxmlformats.org/officeDocument/2006/relationships" id="258" r:id="Rce6ec617de254e11"/>
    <p:sldId xmlns:r="http://schemas.openxmlformats.org/officeDocument/2006/relationships" id="259" r:id="Rb80406707aef44db"/>
    <p:sldId xmlns:r="http://schemas.openxmlformats.org/officeDocument/2006/relationships" id="260" r:id="R572307891c664adc"/>
    <p:sldId xmlns:r="http://schemas.openxmlformats.org/officeDocument/2006/relationships" id="261" r:id="Rcb32bad75b6f4e7d"/>
    <p:sldId xmlns:r="http://schemas.openxmlformats.org/officeDocument/2006/relationships" id="262" r:id="R6f4659922da24e52"/>
    <p:sldId xmlns:r="http://schemas.openxmlformats.org/officeDocument/2006/relationships" id="263" r:id="Raa39bbc789bf4add"/>
    <p:sldId xmlns:r="http://schemas.openxmlformats.org/officeDocument/2006/relationships" id="264" r:id="R1f77f48a38dd4364"/>
    <p:sldId xmlns:r="http://schemas.openxmlformats.org/officeDocument/2006/relationships" id="265" r:id="Re493994430354b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bfdb27986a4e0d" /><Relationship Type="http://schemas.openxmlformats.org/officeDocument/2006/relationships/slideMaster" Target="/ppt/slideMasters/slideMaster1.xml" Id="R901537b7c8944c07" /><Relationship Type="http://schemas.openxmlformats.org/officeDocument/2006/relationships/notesMaster" Target="/ppt/notesMasters/notesMaster1.xml" Id="R8537c5aeae694cea" /><Relationship Type="http://schemas.openxmlformats.org/officeDocument/2006/relationships/presProps" Target="/ppt/presProps.xml" Id="Rcc5ce72f9a714ce4" /><Relationship Type="http://schemas.openxmlformats.org/officeDocument/2006/relationships/tableStyles" Target="/ppt/tableStyles.xml" Id="R5bbba4b1f85f4065" /><Relationship Type="http://schemas.openxmlformats.org/officeDocument/2006/relationships/slide" Target="/ppt/slides/slide1.xml" Id="Rdf22b17d293c4d83" /><Relationship Type="http://schemas.openxmlformats.org/officeDocument/2006/relationships/slide" Target="/ppt/slides/slide2.xml" Id="Rf096e960a9df471f" /><Relationship Type="http://schemas.openxmlformats.org/officeDocument/2006/relationships/slide" Target="/ppt/slides/slide3.xml" Id="Rce6ec617de254e11" /><Relationship Type="http://schemas.openxmlformats.org/officeDocument/2006/relationships/slide" Target="/ppt/slides/slide4.xml" Id="Rb80406707aef44db" /><Relationship Type="http://schemas.openxmlformats.org/officeDocument/2006/relationships/slide" Target="/ppt/slides/slide5.xml" Id="R572307891c664adc" /><Relationship Type="http://schemas.openxmlformats.org/officeDocument/2006/relationships/slide" Target="/ppt/slides/slide6.xml" Id="Rcb32bad75b6f4e7d" /><Relationship Type="http://schemas.openxmlformats.org/officeDocument/2006/relationships/slide" Target="/ppt/slides/slide7.xml" Id="R6f4659922da24e52" /><Relationship Type="http://schemas.openxmlformats.org/officeDocument/2006/relationships/slide" Target="/ppt/slides/slide8.xml" Id="Raa39bbc789bf4add" /><Relationship Type="http://schemas.openxmlformats.org/officeDocument/2006/relationships/slide" Target="/ppt/slides/slide9.xml" Id="R1f77f48a38dd4364" /><Relationship Type="http://schemas.openxmlformats.org/officeDocument/2006/relationships/slide" Target="/ppt/slides/slide10.xml" Id="Re493994430354b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bb7657c8a749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f9173e4c2f466f" /><Relationship Type="http://schemas.openxmlformats.org/officeDocument/2006/relationships/notesMaster" Target="/ppt/notesMasters/notesMaster1.xml" Id="Rdfd52831bd7548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ab2902621c4bef" /><Relationship Type="http://schemas.openxmlformats.org/officeDocument/2006/relationships/notesMaster" Target="/ppt/notesMasters/notesMaster1.xml" Id="Rb554090b44de43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de2525746b49a9" /><Relationship Type="http://schemas.openxmlformats.org/officeDocument/2006/relationships/notesMaster" Target="/ppt/notesMasters/notesMaster1.xml" Id="Rdc5b547e17e249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6b50bf2c7b4482" /><Relationship Type="http://schemas.openxmlformats.org/officeDocument/2006/relationships/notesMaster" Target="/ppt/notesMasters/notesMaster1.xml" Id="R5793da73c26543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a8c1396f634695" /><Relationship Type="http://schemas.openxmlformats.org/officeDocument/2006/relationships/notesMaster" Target="/ppt/notesMasters/notesMaster1.xml" Id="R9e59b8c18d574e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ea20e4e57e4fd7" /><Relationship Type="http://schemas.openxmlformats.org/officeDocument/2006/relationships/notesMaster" Target="/ppt/notesMasters/notesMaster1.xml" Id="R2706585ef23e4f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857f57d5e64749" /><Relationship Type="http://schemas.openxmlformats.org/officeDocument/2006/relationships/notesMaster" Target="/ppt/notesMasters/notesMaster1.xml" Id="R3d76c1727acc42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18dab3fe6a4d61" /><Relationship Type="http://schemas.openxmlformats.org/officeDocument/2006/relationships/notesMaster" Target="/ppt/notesMasters/notesMaster1.xml" Id="R24ee37d103694c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04f501c9b344da" /><Relationship Type="http://schemas.openxmlformats.org/officeDocument/2006/relationships/notesMaster" Target="/ppt/notesMasters/notesMaster1.xml" Id="Rd15a05595eb344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1fff2eb4074b93" /><Relationship Type="http://schemas.openxmlformats.org/officeDocument/2006/relationships/notesMaster" Target="/ppt/notesMasters/notesMaster1.xml" Id="Rddcaa726fde54e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reports/LOCAL_FNO_DATABASE_READ_ONLY_QUALIFICATION_STAGE_1.md; reports/CONSOLIDATED_PRE_REAL_DATA_STATUS.md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docs/project_status/consolidated_pre_real_data_status_v1.json; ARCHITECTURE_REFINEMENT.md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ARCHITECTURE_REFINEMENT.md; reports/CONSOLIDATED_PRE_REAL_DATA_STATUS.md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reports/CONSOLIDATED_PRE_REAL_DATA_STATUS.md; reports/LOCAL_FNO_DATABASE_READ_ONLY_QUALIFICATION_STAGE_1.md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reports/CONSOLIDATED_PRE_REAL_DATA_STATUS.md; reports/RESEARCH_R10I_GOVERNANCE_REMEDIATION.md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docs/project_status/consolidated_pre_real_data_status_v1.json; reports/LOCAL_FNO_DATABASE_READ_ONLY_QUALIFICATION_STAGE_1.md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reports/RESEARCH_R10I_GOVERNANCE_REMEDIATION.md; reports/RESEARCH_R10I_FINGERPRINT_COHERENCE_AMENDMENT.md; reports/LOCAL_FNO_DATABASE_READ_ONLY_QUALIFICATION_STAGE_1.md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reports/LOCAL_FNO_DATABASE_READ_ONLY_QUALIFICATION_STAGE_1.md; docs/investigations/r10k/stage1_attempt_v1/completion.json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reports/CONSOLIDATED_PRE_REAL_DATA_STATUS.md; reports/LOCAL_FNO_DATABASE_READ_ONLY_QUALIFICATION_STAGE_1.md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reports/LOCAL_FNO_DATABASE_READ_ONLY_QUALIFICATION_STAGE_1.md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b46c29fd14d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ba4874a0d848f0" /><Relationship Type="http://schemas.openxmlformats.org/officeDocument/2006/relationships/slideLayout" Target="/ppt/slideLayouts/slideLayout1.xml" Id="R7c96eb495f1244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96eb495f1244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bcd2a2db6458b" /><Relationship Type="http://schemas.openxmlformats.org/officeDocument/2006/relationships/notesSlide" Target="/ppt/notesSlides/notesSlide1.xml" Id="R3d43d3cadfb243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74a04e7674d99" /><Relationship Type="http://schemas.openxmlformats.org/officeDocument/2006/relationships/notesSlide" Target="/ppt/notesSlides/notesSlide2.xml" Id="R0aea26ee085148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cfffe4ebb4cf3" /><Relationship Type="http://schemas.openxmlformats.org/officeDocument/2006/relationships/notesSlide" Target="/ppt/notesSlides/notesSlide3.xml" Id="R59e68ea037ac41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1b9e6b2224054" /><Relationship Type="http://schemas.openxmlformats.org/officeDocument/2006/relationships/notesSlide" Target="/ppt/notesSlides/notesSlide4.xml" Id="Rf340284b3a9644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b04d31df44c7c" /><Relationship Type="http://schemas.openxmlformats.org/officeDocument/2006/relationships/notesSlide" Target="/ppt/notesSlides/notesSlide5.xml" Id="R0ee45700ca1446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d79029b494eb9" /><Relationship Type="http://schemas.openxmlformats.org/officeDocument/2006/relationships/notesSlide" Target="/ppt/notesSlides/notesSlide6.xml" Id="R55df20f82c8548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3a649f9834b12" /><Relationship Type="http://schemas.openxmlformats.org/officeDocument/2006/relationships/chart" Target="/ppt/slides/charts/chart1.xml" Id="Rd9a95c5319634de5" /><Relationship Type="http://schemas.openxmlformats.org/officeDocument/2006/relationships/notesSlide" Target="/ppt/notesSlides/notesSlide7.xml" Id="R982136c2f04f45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1fae94f394aa4" /><Relationship Type="http://schemas.openxmlformats.org/officeDocument/2006/relationships/notesSlide" Target="/ppt/notesSlides/notesSlide8.xml" Id="R0a49118e26bd4e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bd6778a474dea" /><Relationship Type="http://schemas.openxmlformats.org/officeDocument/2006/relationships/notesSlide" Target="/ppt/notesSlides/notesSlide9.xml" Id="R232e33aaca5940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a9998d6c04b25" /><Relationship Type="http://schemas.openxmlformats.org/officeDocument/2006/relationships/notesSlide" Target="/ppt/notesSlides/notesSlide10.xml" Id="R8492bac85fa5462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Passed</c:v>
          </c:tx>
          <c:spPr>
            <a:solidFill xmlns:a="http://schemas.openxmlformats.org/drawingml/2006/main">
              <a:srgbClr val="13A89E"/>
            </a:solidFill>
          </c:spPr>
          <c:cat>
            <c:strRef>
              <c:f>'Chart Data'!$A$2:$A$4</c:f>
              <c:strCache>
                <c:ptCount val="3"/>
                <c:pt idx="0">
                  <c:v>R10I root</c:v>
                </c:pt>
                <c:pt idx="1">
                  <c:v>R10I.1 root</c:v>
                </c:pt>
                <c:pt idx="2">
                  <c:v>R10K root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730</c:v>
                </c:pt>
                <c:pt idx="1">
                  <c:v>742</c:v>
                </c:pt>
                <c:pt idx="2">
                  <c:v>765</c:v>
                </c:pt>
              </c:numCache>
            </c:numRef>
          </c:val>
        </c:ser>
        <c:ser>
          <c:idx val="1"/>
          <c:order val="1"/>
          <c:tx>
            <c:v>Failed</c:v>
          </c:tx>
          <c:spPr>
            <a:solidFill xmlns:a="http://schemas.openxmlformats.org/drawingml/2006/main">
              <a:srgbClr val="D95D55"/>
            </a:solidFill>
          </c:spPr>
          <c:cat>
            <c:strRef>
              <c:f>'Chart Data'!$C$2:$C$4</c:f>
              <c:strCache>
                <c:ptCount val="3"/>
                <c:pt idx="0">
                  <c:v>R10I root</c:v>
                </c:pt>
                <c:pt idx="1">
                  <c:v>R10I.1 root</c:v>
                </c:pt>
                <c:pt idx="2">
                  <c:v>R10K root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FEB0E-751E-4AEC-B4D6-D584C8EA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97111-C856-41AC-AA3B-CC9212D3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 System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69039-3453-4477-96D4-666D0552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D2C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D2C8"/>
                </a:solidFill>
                <a:latin typeface="Arial"/>
                <a:ea typeface="Arial"/>
                <a:cs typeface="Arial"/>
              </a:rPr>
              <a:t>A trustworthy Indian-market analysis platform, built before the scores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A3A7B-6F53-4494-8E5B-6754F0B1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14400"/>
            <a:ext cx="3143250" cy="4381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1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4DAAE-6576-42E9-90D8-B2F3C02F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95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CURRENT CHECKPOINT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CBBC3-E67B-4A90-9514-970D0396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R10K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4C5C9-897A-4A93-945C-700E81CC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A3A"/>
                </a:solidFill>
                <a:latin typeface="Arial"/>
                <a:ea typeface="Arial"/>
                <a:cs typeface="Arial"/>
              </a:rPr>
              <a:t>Safety gate stopped database access before any file was opened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B2459-BA94-4D07-84FC-6E19C8E6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95D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5D55"/>
                </a:solidFill>
                <a:latin typeface="Arial"/>
                <a:ea typeface="Arial"/>
                <a:cs typeface="Arial"/>
              </a:rPr>
              <a:t>No research</a:t>
            </a:r>
          </a:p>
          <a:p xmlns:a="http://schemas.openxmlformats.org/drawingml/2006/main">
            <a:pPr algn="ctr">
              <a:defRPr sz="1425" b="0">
                <a:solidFill>
                  <a:srgbClr val="D95D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5D55"/>
                </a:solidFill>
                <a:latin typeface="Arial"/>
                <a:ea typeface="Arial"/>
                <a:cs typeface="Arial"/>
              </a:rPr>
              <a:t>No scores</a:t>
            </a:r>
          </a:p>
          <a:p xmlns:a="http://schemas.openxmlformats.org/drawingml/2006/main">
            <a:pPr algn="ctr">
              <a:defRPr sz="1425" b="0">
                <a:solidFill>
                  <a:srgbClr val="D95D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95D55"/>
                </a:solidFill>
                <a:latin typeface="Arial"/>
                <a:ea typeface="Arial"/>
                <a:cs typeface="Arial"/>
              </a:rPr>
              <a:t>No trading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B0E95-4E02-4EE2-ACCA-BD8948B5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FC2CC"/>
                </a:solidFill>
                <a:latin typeface="Arial"/>
                <a:ea typeface="Arial"/>
                <a:cs typeface="Arial"/>
              </a:rPr>
              <a:t>Prepared from repository evidence through commit d39df04</a:t>
            </a:r>
          </a:p>
        </p:txBody>
      </p:sp>
    </p:spTree>
    <p:extLst>
      <p:ext uri="{BB962C8B-B14F-4D97-AF65-F5344CB8AC3E}">
        <p14:creationId xmlns:p14="http://schemas.microsoft.com/office/powerpoint/2010/main" val="982266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ADD0E-DC8F-4CBF-B4DE-83D02E9D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we are trying to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80629-0F32-4DDC-86F6-0C3CA161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Analysis support for Indian markets, with evidence visible at every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D4599-9045-4CB0-890C-6607CB14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4E054-61FC-41DB-B0FE-A6362C87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The eventual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6C539-B167-4BBB-9A72-788DB9F8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Market sentiment 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A557D-3F5D-43D2-8381-BE09CE3B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Individual stock scores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2178D-680A-4B6B-A543-3DB07E8C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Confidence, regime, horizon, contributors and risks beside every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42769-22AB-45E9-BA85-2070FA78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57350"/>
            <a:ext cx="381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20514-7746-4649-843D-64A959F7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573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The standard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7CEC2-F90A-4C44-8DB1-AFE7B5E9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Point-in-time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45F2A-778C-4E3A-B85A-4DCD9CFC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03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Only information available at the historical decision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74092-5C82-46A3-A401-25E807F9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718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Reproducible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C0647-D9F8-4A61-9C09-F7E5420D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766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Same inputs and rules produce the same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F809E-1613-4CA3-9A92-2805E911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Honest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7E38F-B043-4030-A890-A5CDCB9C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529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Out-of-sample tests, costs and untouched holdouts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34FA5-B13B-4E31-96B7-A62870DA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244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Analysis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8E857-18FF-44D0-A875-564353B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The project never places, changes or cancels trades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0244B-82B2-4A72-8706-7FDD29FF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custom_terminal, 8 Sep 2026, commit d39df04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AB993-E82B-44E4-A7E1-398CD782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55810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10405E-B397-46FD-BD6E-4E0E4EA8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How trustworthy evidence becomes a score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187C4-2822-4CDA-BA13-17B5C06B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Every gate must pass before an output reaches the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AA707-1DB3-4E03-BA5B-C056B672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B4259-6625-45FD-8A6A-BA4FF588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1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824A7-5CEF-47DE-B698-ACA96079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Source bytes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772D0-3D53-4A93-B40F-D7B4987F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hash +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3394F-ACA0-4B45-97DD-FA137593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38425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1EE63-B07C-4729-A4B9-A13AC577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8125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1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7CDCC-397F-4F1E-A012-C6000030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43175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Qualified 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C933C-E90F-41F9-B7DA-87BE7AB3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099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identity +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99D74-0FA9-4DD7-8499-649D712C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38425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B4F86-E606-4E7D-892B-A22B106A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1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CEA8C-E0AF-4553-A5EC-2B26F809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43175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Declared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8BD66-BE62-4FF4-A035-DD56EC5A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99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feature +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DF7F1-D89A-4C44-8831-814F35D9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38425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A89C5-4617-49E8-BE07-1EF8C811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1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797D7-2BB0-486F-8796-01FD5E44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43175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Out-of-sample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8B9CD-A677-4FD9-822F-8257990A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99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walk-forward + costs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3B24A-776C-47E7-BD59-E6F082BC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38425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EF618-84A5-4C42-9BF6-F17C16D8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9F1E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FA840-F0ED-460D-B271-3EDB694D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43175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Hidden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BCCED-C51F-4893-AC5F-A94F99DD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until validated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39C2E-E61F-403D-A8DA-7DC538BC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38425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2BD7FC-FDDB-4CF5-A5A6-B8E1B6FD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83DCDD-697F-448D-9EEB-827E41F7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43175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 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1F408-FD9D-4F77-BFFC-5B423D55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confidence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782714-C4BB-401B-99D7-2D0960EC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7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5D5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5D55"/>
                </a:solidFill>
                <a:latin typeface="Arial"/>
                <a:ea typeface="Arial"/>
                <a:cs typeface="Arial"/>
              </a:rPr>
              <a:t>A failed gate stays visible. Missing evidence never becomes a neutral score.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983210-DE56-4659-AB6B-1C74AD6A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AI can explain evidence and propose hypotheses. Deterministic code remains the numerical source of truth.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5B0448-69BB-4028-AD72-1B32E6E4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custom_terminal, 8 Sep 2026, commit d39df04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7C349C-1B28-4320-802C-AC8C547E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70804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98CE2-7D4B-4F77-BD76-06933B1A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Development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55546-383F-4D12-B542-D6072B41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The project built controls before using real market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5F8F1-4BCA-4F9E-BB88-B0D265BF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1148D-6302-4087-B467-EDEDB6ED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23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EE188-E82A-401F-AEFE-0E066AA8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BAB7B-C15A-40D9-83FB-A42D75C1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E3370-B57E-462F-BDE6-F322E7A4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718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7D69E-9FDA-4AA8-B349-87C41A36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6235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Typed data and reproducible experiments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7A858-CAA6-406D-B95E-8CE8A21D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03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8F08F-9CF8-42D0-914B-C350E837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B20FE-E4EC-4338-98C9-5D3FBB00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718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Slice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23D01-D754-4044-9BC8-4A1331F3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6235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Momentum mechanics reproduced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E9088-9DC4-4E7D-9B31-E5F4FC14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03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84B35-0063-4053-AD92-686BA7AC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265EC-1827-4359-920F-6EE0B30D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 trust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6CBEB-0A90-4039-8404-613EB0B2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6235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Survivorship risk exposed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E9A16-BA8B-429B-B093-D300DFCD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03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D6CA7-6655-4959-88C2-A8ADDBB0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90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D73AB-520C-42F4-95FD-C67CB623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718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R1–R10J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A8F4F-189B-41FE-81A2-65A8972C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Governance and synthetic 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6CF81-629C-4510-A836-56A936F5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03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95D5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EA386-6F8B-40B4-8B8C-F31C18C0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90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47799-9E93-4482-A0A6-98EC909C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718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R10K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B1112-6817-4F60-B77B-3825B782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1657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Pre-access safety abort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25E68-1C29-4977-A24F-1A75A706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Outcome so far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710933-00BE-44D7-B7C7-7D75990C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01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research machinery works on fictional data. Real data and economic edges remain unqualified.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734E9-C128-4C8A-A2C8-902EC08B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custom_terminal, 8 Sep 2026, commit d39df04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470279-DC0B-45D1-BDEE-40E282AF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08468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E8A611-E0D0-408F-B1C3-AE280DA2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is complete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14B0D-BB8E-40B9-A3BB-1E9D336D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The foundation can preserve evidence and reject unsafe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6A82B-CF51-4ADF-A731-860E99F8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57FB3-8034-478C-B383-15B20A9E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1BD43-D1FF-4EF7-877E-0CC27628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24025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AA17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9C192-55EE-48FB-A778-66B9F583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14500"/>
            <a:ext cx="1695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F5B36-F7D4-4F32-A4FE-C5FC152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Local-first modules, typed facts and immutable manifests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C82B5-8519-42BF-8E76-C3D3907F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Synthetic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85783-7353-4F6E-847E-BE8E6550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90775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AA17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21F9A-A949-4897-B29B-93D0C31B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1695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92F85-C302-4F4D-BABD-954BA458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3362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R10A–R10G exercised the full research path on fictional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41B00-CDBD-42F6-A68E-9B4F07AC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0F61F-292F-4F29-A0AA-F580F662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57525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AA17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899F6-E7E8-472D-85E0-47C69104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48000"/>
            <a:ext cx="1695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REMEDIATED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DC180-06E7-4D60-9017-6CFB8835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03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Historical review scope and 77 entrypoints are tracked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65808-4DAE-4110-A144-E2FA30CA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Owner status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94656-BFB1-4CA2-AC60-AA6B7D05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24275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AA17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2AE99-172C-4E2E-BB2D-A5202A0F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1695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66FFB-B274-4286-AFAF-079CB1E0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R10J separated report approval from task approval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02F87-33C6-43E1-BAAD-CF95A9A2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Trade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468BF-267E-4F89-9F37-1A47CC3B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2BAEF-5F40-4AAA-8C28-0CB5CBC1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81500"/>
            <a:ext cx="1695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PROHIBITED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A7C872-DE4C-444F-8769-ED2EE99E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338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No order placement, modification or cancellation through the 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7EA91-EF6F-4154-BF15-5F233AD3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Preserved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62781-B590-4168-9C8C-D2DA0314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Momentum v1 unchanged. R10A holdout unconsumed. 208 of 208 R10 artifacts validated at R10I.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139836-A70D-4A8E-9C6B-1547047F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custom_terminal, 8 Sep 2026, commit d39df04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6E1B2-0287-4EAA-A1A2-78F5373C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04847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362669-B467-49F6-A924-C931E3C7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Current data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C8723-BE6B-42D9-A41E-363ECB29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Access exists in places, but research fitness remains limited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FF27F-89C0-4782-87C6-F2BD3800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E5137-9DF3-4CF8-81B6-F367B182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Local equity 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A6721-7862-4DF6-8A21-8D847CDC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34DF5-E81F-4EE8-8E45-36771D0A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5D5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5D55"/>
                </a:solidFill>
                <a:latin typeface="Arial"/>
                <a:ea typeface="Arial"/>
                <a:cs typeface="Arial"/>
              </a:rPr>
              <a:t>430 symbol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F26F7-1FE3-4072-94E1-C3A94E51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Survivor-selected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B7A74-9831-4311-A31A-23F28C05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D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5D55"/>
                </a:solidFill>
                <a:latin typeface="Arial"/>
                <a:ea typeface="Arial"/>
                <a:cs typeface="Arial"/>
              </a:rPr>
              <a:t>NOT QUALIFIED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2004C-4FED-4F1E-88A1-888D82D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90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NSE public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DA400-5BF5-4392-A2A3-682AE2C0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38375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6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80D9A-F898-43AC-9787-6E49B7C5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5050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12 bhavcopies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33420-0B23-4507-85DF-DAD4FD76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670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3 of 12 population pairs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71FF7-8CC4-48BC-B3C8-861D526F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990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INCOMPLETE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EDF59-9556-492A-B049-8FF727C1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Kite Connect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328A4-0F69-424B-8511-2D70FFF5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8880C-6EC5-4B4C-8331-9C0B4165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21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Current instruments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98ACC-FB4F-4028-88EA-9BE1709D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No historical universe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0AF435-FCCD-410D-A4D4-E5B3B51F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90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CURRENT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929BD-80AD-40D3-A0C2-3C3D3DF4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790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Local F&amp;O DB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D2D80-4353-47B9-84BF-75870B8E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38375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183AA-78F9-446E-B292-B00DA0D6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050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67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5D5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5D55"/>
                </a:solidFill>
                <a:latin typeface="Arial"/>
                <a:ea typeface="Arial"/>
                <a:cs typeface="Arial"/>
              </a:rPr>
              <a:t>Located and sampled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099B0-D745-4E01-93F0-DF1699E6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670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Safety boundary blocked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1F8CE-2E4A-41FA-8053-33BB5413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990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D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5D55"/>
                </a:solidFill>
                <a:latin typeface="Arial"/>
                <a:ea typeface="Arial"/>
                <a:cs typeface="Arial"/>
              </a:rPr>
              <a:t>NOT QUALIFIED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7D027-2D15-4AA9-ACCA-9EC8A47F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Free official sources remain the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14F2EF-0727-4AD1-8BA0-8D2F6983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NSE, SEBI and BSE can fill specific evidence gaps. AMFI applies to mutual funds. Kite supplements current data only.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9C592-125A-4474-85B7-63883686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custom_terminal, 8 Sep 2026, commit d39df04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8D8A25-C890-488C-BAF7-3DA1C2D9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75743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D7324-5E67-47A3-BCE3-D74B2D74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A6D71-3C6F-4C3E-B656-67D30D0C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Test counts grew as controls and audit gates were added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1692E-D173-4457-93F7-A49B0F7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6858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a95c5319634de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E4776-946A-4732-9C85-83699D9F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765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03244-2E81-498A-AD51-05DE7E82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tests passed at R10K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DB5BD-1B43-43B0-900D-B9FA84AE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95D5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D95D5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27DF5-1C5B-4838-A729-05CB29A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historical approval test now conflicts with the later valid owner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3A205-4BC1-452B-B2B0-41525BDF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0537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Tests prove mechanics and safeguards. They do not prove data completeness or profitability.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7A018-33A6-45BB-9806-7B5C60CC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custom_terminal, 8 Sep 2026, commit d39df04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F3F8E-5E06-4646-B69F-D21F6C14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931057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475FE-AD69-4269-88B4-141A9FA3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R10K stopped safely before database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95D69-FDD9-4B27-9D25-3E8587E9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D2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D2C8"/>
                </a:solidFill>
                <a:latin typeface="Arial"/>
                <a:ea typeface="Arial"/>
                <a:cs typeface="Arial"/>
              </a:rPr>
              <a:t>The authorization passed. The production safety controls did not.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D64D2-0D90-4024-AEF1-C98EC9F1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707BD-3D5F-47E2-9AE2-D65C5D40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locator resolutions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BC930-559B-48C0-BA40-E7E94B77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4787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C32BC-71C0-410E-A493-E1122C6B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connections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CABE6-4CDE-4AC6-9AFD-20BBCB3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4787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DFE97-AE47-4DB6-9B45-D39A3C6F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statements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9BB71-05C1-4317-A9EF-EBA00D0C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07844-519F-466D-930A-7B65B09C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 rows 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9A86F-2589-48DE-BEC9-50FD7801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76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2B883-DC75-4C4C-992C-B683A7BA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004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9D2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9D2C8"/>
                </a:solidFill>
                <a:latin typeface="Arial"/>
                <a:ea typeface="Arial"/>
                <a:cs typeface="Arial"/>
              </a:rPr>
              <a:t>Why the gate failed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C5F5E-B796-4082-B33F-A298FF0F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locator and activation contracts remain templates. No exact one-use production approval binds the attempt ID. The approved stack cannot enforce the logical read budget, and the sidecar policy remains unresolved.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1699C-67E7-4361-BA32-F8A0279A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40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5D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5D55"/>
                </a:solidFill>
                <a:latin typeface="Arial"/>
                <a:ea typeface="Arial"/>
                <a:cs typeface="Arial"/>
              </a:rPr>
              <a:t>Result: AUDIT_ABORTED_SAFETY_BOUNDARY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F5C4A-D6A7-4CD2-9FDC-AA775E6D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2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2CC"/>
                </a:solidFill>
                <a:latin typeface="Arial"/>
                <a:ea typeface="Arial"/>
                <a:cs typeface="Arial"/>
              </a:rPr>
              <a:t>Database remains LOCATED_AND_SAMPLED_NOT_QUALIFIED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4D7F3-A3E2-4AF5-B7B2-EDDCA8B9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custom_terminal, 8 Sep 2026, commit d39df04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C9814-5758-493A-BA76-8CA31321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414532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A9363-5AFB-4BDC-A092-2382A5F6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remains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AA797-3CD3-479F-B19E-81C87E32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The next work is still data qualification, not strategy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8660F-ED8C-4238-A1A6-C43BAA52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5EBA5-27CA-4C27-9FEF-112C5E8C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89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89E"/>
                </a:solidFill>
                <a:latin typeface="Arial"/>
                <a:ea typeface="Arial"/>
                <a:cs typeface="Arial"/>
              </a:rPr>
              <a:t>Cash-equity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54AAF-BBF3-411B-87FC-AA4738D3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1.  Historical listed population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B336D-B491-4FAF-AE82-1EC84E41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2.  Delistings and terminal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99580-75D9-4A8F-A137-4CC0BE00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3.  Stable security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58B9B-03B1-416C-A9C8-363F3632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4.  Corporate-action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5E58A-CE3D-41B8-A078-DAC636A9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5.  Benchmark and cost schedules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5F1A6-0E76-4F9B-845C-B2D8F1C1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285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8CD8F-AD40-4F3B-85B4-77606911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A6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A62A"/>
                </a:solidFill>
                <a:latin typeface="Arial"/>
                <a:ea typeface="Arial"/>
                <a:cs typeface="Arial"/>
              </a:rPr>
              <a:t>F&amp;O and research readiness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C269C-EACF-4329-9B73-94882449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1.  F&amp;O production read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0E56B-9D79-4CED-AC1F-1422F04B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717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2.  F&amp;O schema and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8144C-9122-4402-81C2-8BE819A1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3.  Provenance and retained vintages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DB7E4-6803-4150-A5DB-F2341C60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338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4.  Point-in-time reconstruction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E7FAE-41B8-4905-934B-5CF0174E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5.  Economic edge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F23D5-98F6-4D82-87DA-3829A883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768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5D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5D55"/>
                </a:solidFill>
                <a:latin typeface="Arial"/>
                <a:ea typeface="Arial"/>
                <a:cs typeface="Arial"/>
              </a:rPr>
              <a:t>Market sentiment and stock scores stay hidden until these evidence gaps close.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6390C-14C0-438C-A91E-DB874843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custom_terminal, 8 Sep 2026, commit d39df04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02372-E377-4893-8C7D-EEEEA0BB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40874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82C49-6D5B-4543-8D08-EB35F7F2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Recommended 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0A8C5-374D-4ED1-A496-D48CB377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A remediation plan must precede another database attempt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5D07D-16CF-4151-BEFB-44CAD8A4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99277-CDE8-4D6E-9A18-DF910FCA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F&amp;O production boundary remediation</a:t>
            </a:r>
          </a:p>
          <a:p xmlns:a="http://schemas.openxmlformats.org/drawingml/2006/main">
            <a:pPr algn="ctr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and reauthorization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9346E-7ED3-4898-A36A-EEB09164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EDC53-F982-42B4-A0B3-CE62EBA6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E7E70-0424-4852-B3C7-441072B8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955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08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Choose the production read-only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25104-D622-47C9-AF08-D8BD90EC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86050"/>
            <a:ext cx="557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Decide whether the restricted R9P APSW candidate can meet policy or abandon this database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7E3F7-9FB6-4D4C-B5E7-6C3BB61B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A89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EA072-DE33-48AD-9E3C-A09728D8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532E8-83E5-4128-B84E-CE048A8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67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Finish the safety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67B31-3F08-4A41-8F23-CFFB6305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57600"/>
            <a:ext cx="557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Make the locator, one-use approval, read budget and sidecar policy exact and testable.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00ECE-8E89-4E4B-AE89-C166E9CE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A62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3192D-A200-44B4-8AF6-4F02C1AA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E532E-80A5-495C-9B8F-0ED4045F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386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Return for owner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1F9E5-62D6-4CD6-A73F-87C7EBB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29150"/>
            <a:ext cx="557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2A3A"/>
                </a:solidFill>
                <a:latin typeface="Arial"/>
                <a:ea typeface="Arial"/>
                <a:cs typeface="Arial"/>
              </a:rPr>
              <a:t>Present the plan before reopening the qualification attempt.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7FE2C-DF41-4CE9-930D-A9AEFF63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81675"/>
            <a:ext cx="1062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0C745-7862-46F4-A8FE-0B4201F3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5D5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5D55"/>
                </a:solidFill>
                <a:latin typeface="Arial"/>
                <a:ea typeface="Arial"/>
                <a:cs typeface="Arial"/>
              </a:rPr>
              <a:t>No database access, backtest, score or trading action begins from this deck.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B84E6-9FD6-4E87-9D3A-8D66244E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4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482"/>
                </a:solidFill>
                <a:latin typeface="Arial"/>
                <a:ea typeface="Arial"/>
                <a:cs typeface="Arial"/>
              </a:rPr>
              <a:t>custom_terminal, 8 Sep 2026, commit d39df04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50D80-C96C-4A2B-B4C5-03B1AD87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9072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2026-09-08T09:50:20.2730000Z</dcterms:created>
  <dcterms:modified xsi:type="dcterms:W3CDTF">2026-09-08T09:50:20.2730000Z</dcterms:modified>
</coreProperties>
</file>